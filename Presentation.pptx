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1031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F2A44"/>
                </a:solidFill>
                <a:latin typeface="Times New Roman"/>
              </a:rPr>
              <a:t>Predicting Stroke Risk from Clinical Symptoms and Analysing Patient Reported Experiences with Cardiovascular Risk Factor Management</a:t>
            </a:r>
          </a:p>
          <a:p>
            <a:pPr algn="ctr">
              <a:spcBef>
                <a:spcPts val="2000"/>
              </a:spcBef>
            </a:pPr>
            <a:r>
              <a:rPr sz="2000" b="0" i="1">
                <a:solidFill>
                  <a:srgbClr val="B01E28"/>
                </a:solidFill>
                <a:latin typeface="Times New Roman"/>
              </a:rPr>
              <a:t>A Comparative Machine Learning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9377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404040"/>
                </a:solidFill>
                <a:latin typeface="Times New Roman"/>
              </a:rPr>
              <a:t>Data Mining and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2A44"/>
                </a:solidFill>
                <a:latin typeface="Times New Roman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Two datasets connected by a shared cardiovascular health theme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Structured clinical symptom data used to predict binary stroke risk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Patient authored drug reviews used to predict sentiment from free text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Cardiovascular risk factor subset covers hypertension high cholesterol arrhythmia diabetes vascular disease smoking cessation obesity and weight management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Four algorithms compared on structured data and two algorithms compared on text data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Interpretability addressed through SHAP analysis feature importance and coefficient inspection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2A44"/>
                </a:solidFill>
                <a:latin typeface="Times New Roman"/>
              </a:rPr>
              <a:t>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Stroke risk dataset: 70000 records reduced to a stratified sample of 11000 then 10981 after cleaning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18 columns including 14 binary symptom indicators age and stroke risk percentage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Drug review corpus: 215063 records combining training and test files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Cleaned to 127764 usable records after removing missing values and duplicates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Cardiovascular risk factor subset: 13097 reviews with an average length of 82.75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 i="0">
                <a:solidFill>
                  <a:srgbClr val="404040"/>
                </a:solidFill>
                <a:latin typeface="Times New Roman"/>
              </a:rPr>
              <a:t>Both datasets exceed the minimum size and word count thresholds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2A44"/>
                </a:solidFill>
                <a:latin typeface="Times New Roman"/>
              </a:rPr>
              <a:t>Data Mining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CRISP-DM framework applied in parallel to both datasets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Stroke task framed as binary classification of at risk status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Drug review task framed as three class sentiment classification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Stroke models trained on an 80 20 stratified split with feature scaling where required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Drug review text vectorised using TF-IDF with unigrams and bigrams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Five fold stratified cross validation used to assess stability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2A44"/>
                </a:solidFill>
                <a:latin typeface="Times New Roman"/>
              </a:rPr>
              <a:t>Stroke Risk Classification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Four algorithms compared K-Nearest Neighbours Decision Tree Random Forest and Support Vector Machine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Support Vector Machine achieved the strongest performance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Accuracy 97.6 percent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Macro F1 score 0.973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Cohen's Kappa 0.947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Sensitivity exceeded specificity across all four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2A44"/>
                </a:solidFill>
                <a:latin typeface="Times New Roman"/>
              </a:rPr>
              <a:t>Stroke Model Confusion Matrices</a:t>
            </a:r>
          </a:p>
        </p:txBody>
      </p:sp>
      <p:pic>
        <p:nvPicPr>
          <p:cNvPr id="3" name="Picture 2" descr="stroke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371600"/>
            <a:ext cx="10515600" cy="27954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2A44"/>
                </a:solidFill>
                <a:latin typeface="Times New Roman"/>
              </a:rPr>
              <a:t>Stroke Risk Interpretability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Random Forest feature importance identifies age as the dominant predictor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Age accounts for approximately 49.8 percent of total importance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Remaining symptom indicators contribute between 3.3 and 3.4 percent each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SHAP analysis independently confirms age as the leading predictor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Two independent interpretability methods converge on the same conclusion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2A44"/>
                </a:solidFill>
                <a:latin typeface="Times New Roman"/>
              </a:rPr>
              <a:t>Random Forest Importance and SHAP Summary</a:t>
            </a:r>
          </a:p>
        </p:txBody>
      </p:sp>
      <p:pic>
        <p:nvPicPr>
          <p:cNvPr id="3" name="Picture 2" descr="stroke_rf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394960" cy="3269296"/>
          </a:xfrm>
          <a:prstGeom prst="rect">
            <a:avLst/>
          </a:prstGeom>
        </p:spPr>
      </p:pic>
      <p:pic>
        <p:nvPicPr>
          <p:cNvPr id="4" name="Picture 3" descr="stroke_shap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535" y="1371600"/>
            <a:ext cx="5394960" cy="53446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2A44"/>
                </a:solidFill>
                <a:latin typeface="Times New Roman"/>
              </a:rPr>
              <a:t>Drug Review Sentiment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Two classifiers compared Multinomial Naive Bayes and Logistic Regression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Logistic Regression outperformed Naive Bayes on every metric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Accuracy 78.9 percent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Macro F1 score 0.528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Cohen's Kappa 0.442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Accuracy alone overstates performance given class imbalance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2A44"/>
                </a:solidFill>
                <a:latin typeface="Times New Roman"/>
              </a:rPr>
              <a:t>Sentiment Model Confusion Matrices</a:t>
            </a:r>
          </a:p>
        </p:txBody>
      </p:sp>
      <p:pic>
        <p:nvPicPr>
          <p:cNvPr id="3" name="Picture 2" descr="drug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47" y="1463040"/>
            <a:ext cx="8686800" cy="40400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2A44"/>
                </a:solidFill>
                <a:latin typeface="Times New Roman"/>
              </a:rPr>
              <a:t>Sentiment Interpretability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Logistic Regression coefficients highlight weight related terms as strongest positive drivers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Top terms include lbs pounds great love and have lost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Smoking cessation terms also appear among strong positive drivers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SHAP linear explainer independently confirms the same leading terms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Weight management and smoking cessation success dominate positive sentiment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2A44"/>
                </a:solidFill>
                <a:latin typeface="Times New Roman"/>
              </a:rPr>
              <a:t>Top Positive Sentiment Terms</a:t>
            </a:r>
          </a:p>
        </p:txBody>
      </p:sp>
      <p:pic>
        <p:nvPicPr>
          <p:cNvPr id="3" name="Picture 2" descr="drug_top_positive_te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9455" y="1371600"/>
            <a:ext cx="6852784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2A44"/>
                </a:solidFill>
                <a:latin typeface="Times New Roman"/>
              </a:rPr>
              <a:t>Sample Level Prediction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Best model in each task applied to a random sample of held out test records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Support Vector Machine used for stroke risk demonstration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Logistic Regression used for sentiment demonstration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Predicted labels compared directly against actual labels for individual cases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Provides a transparent case by case illustration beyond aggregate metrics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F2A44"/>
                </a:solidFill>
                <a:latin typeface="Times New Roman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Structured symptom data supports highly accurate and stable stroke risk classification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Free text medication reviews present a harder but still tractable sentiment task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Age is the dominant driver of stroke risk prediction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Weight and smoking related language dominates positive sentiment in cardiovascular reviews</a:t>
            </a:r>
          </a:p>
          <a:p>
            <a:pPr>
              <a:spcAft>
                <a:spcPts val="1200"/>
              </a:spcAft>
            </a:pPr>
            <a:r>
              <a:rPr sz="1800" b="0" i="0">
                <a:solidFill>
                  <a:srgbClr val="1F2A44"/>
                </a:solidFill>
                <a:latin typeface="Times New Roman"/>
              </a:rPr>
              <a:t>•  Interpretability methods consistently converge across both data types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Pages>3</Pages>
  <Words>588</Words>
  <Application>Microsoft Office PowerPoint</Application>
  <PresentationFormat>Widescreen</PresentationFormat>
  <Paragraphs>66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lalit kumar</cp:lastModifiedBy>
  <cp:revision>8</cp:revision>
  <dcterms:created xsi:type="dcterms:W3CDTF">2026-07-21T09:10:27Z</dcterms:created>
  <dcterms:modified xsi:type="dcterms:W3CDTF">2026-07-20T20:41:13Z</dcterms:modified>
  <cp:category/>
</cp:coreProperties>
</file>